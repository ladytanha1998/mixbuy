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77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80" r:id="rId18"/>
    <p:sldId id="281" r:id="rId19"/>
    <p:sldId id="282" r:id="rId20"/>
    <p:sldId id="271" r:id="rId21"/>
    <p:sldId id="272" r:id="rId22"/>
    <p:sldId id="278" r:id="rId23"/>
    <p:sldId id="273" r:id="rId24"/>
    <p:sldId id="274" r:id="rId25"/>
    <p:sldId id="275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7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41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9483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MixBuy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Unlinkable Contingent Payment via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Witness Encryption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3474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Maksym Voloshyn  •  Zahra Tahna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Luxembourg  |  January 2026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71600"/>
            <a:ext cx="1828800" cy="1828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Cryptographic Algorithms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Trust Dilemma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280160"/>
          </a:xfrm>
          <a:prstGeom prst="rect">
            <a:avLst/>
          </a:prstGeom>
          <a:solidFill>
            <a:srgbClr val="2A3A7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r>
              <a:rPr lang="en-US" sz="2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wants to pay </a:t>
            </a:r>
            <a:r>
              <a:rPr lang="en-US" sz="20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BTC if Juventus </a:t>
            </a: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the Champions League</a:t>
            </a:r>
            <a:r>
              <a:rPr lang="en-US" sz="2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Alice nor Bob trusts the other. What can go wrong?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3840480" cy="2103120"/>
          </a:xfrm>
          <a:prstGeom prst="rect">
            <a:avLst/>
          </a:prstGeom>
          <a:solidFill>
            <a:srgbClr val="0D142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Alice signs first...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6324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3063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claims payment regardless of outcome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118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3611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loses money even if Juventus lose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754880" y="2468880"/>
            <a:ext cx="3840480" cy="2103120"/>
          </a:xfrm>
          <a:prstGeom prst="rect">
            <a:avLst/>
          </a:prstGeom>
          <a:solidFill>
            <a:srgbClr val="0D1421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0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Alice waits to sign...</a:t>
            </a:r>
            <a:endParaRPr lang="en-US" sz="16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06324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0" y="3063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might disappear after event</a:t>
            </a:r>
            <a:endParaRPr lang="en-US" sz="14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61188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0" y="3611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can't enforce the agreement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4864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classic 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2194560" y="4709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Exchange Problem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Questions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solidFill>
            <a:srgbClr val="2A3A7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731520" cy="1005840"/>
          </a:xfrm>
          <a:prstGeom prst="rect">
            <a:avLst/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4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RQ1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0972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build conditional payments without smart contracts?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8046720" cy="1005840"/>
          </a:xfrm>
          <a:prstGeom prst="rect">
            <a:avLst/>
          </a:prstGeom>
          <a:solidFill>
            <a:srgbClr val="2A3A7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86000"/>
            <a:ext cx="731520" cy="1005840"/>
          </a:xfrm>
          <a:prstGeom prst="rect">
            <a:avLst/>
          </a:prstGeom>
          <a:solidFill>
            <a:srgbClr val="FFD93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4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RQ2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2860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verify encrypted secrets before events happen?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8046720" cy="1005840"/>
          </a:xfrm>
          <a:prstGeom prst="rect">
            <a:avLst/>
          </a:prstGeom>
          <a:solidFill>
            <a:srgbClr val="2A3A7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74720"/>
            <a:ext cx="731520" cy="1005840"/>
          </a:xfrm>
          <a:prstGeom prst="rect">
            <a:avLst/>
          </a:prstGeom>
          <a:solidFill>
            <a:srgbClr val="CADCF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4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RQ3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47472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cryptography replace trust entirely?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Spoiler: Yes, yes, and yes — with the right primitives.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Current Solutions Fail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840480" cy="3291840"/>
          </a:xfrm>
          <a:prstGeom prst="rect">
            <a:avLst/>
          </a:prstGeom>
          <a:solidFill>
            <a:srgbClr val="0D142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11887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Trusted Escrow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228600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can collude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ongoing trust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and delays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54880" y="1005840"/>
            <a:ext cx="3840480" cy="3291840"/>
          </a:xfrm>
          <a:prstGeom prst="rect">
            <a:avLst/>
          </a:prstGeom>
          <a:solidFill>
            <a:srgbClr val="0D1421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Contracts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5029200" y="228600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logic on-chain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leakage (public!)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gas costs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expressiveness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4480560"/>
            <a:ext cx="8046720" cy="5029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3" name="Text 9"/>
          <p:cNvSpPr/>
          <p:nvPr/>
        </p:nvSpPr>
        <p:spPr>
          <a:xfrm>
            <a:off x="822960" y="44805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purely cryptographic solution — no trusted parties, no on-chain logic.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Related Work &amp; Research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existing literature addresses our research questions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57200" y="1005840"/>
          <a:ext cx="8275320" cy="35204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RQ1: Conditional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 w/o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Contracts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RQ2: Verify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Encrypted Secrets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Events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RQ3: Cryptography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Replaces Trust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[1] Madathil et al. (NDSS 2023)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FFD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[2] MixBuy (PETS 2025)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FFD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 VWER_BLS_sig.py (Our Impl.)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[4] WES.py (Our Impl.)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FFD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[5] Lindell (J. Cryptology 2016)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[6] Aumayr et al. (ASIACRYPT 2021)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[7] Bursuc &amp; Mauw (CSF 2022)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FFD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[8] Garg et al. (STOC 2013)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FFD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0D1421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B981"/>
                </a:solidFill>
              </a:rPr>
              <a:t>✓</a:t>
            </a:r>
            <a:r>
              <a:rPr lang="en-US" sz="1100" dirty="0">
                <a:solidFill>
                  <a:srgbClr val="E8EDF5"/>
                </a:solidFill>
              </a:rPr>
              <a:t> = Fully Addresses     </a:t>
            </a:r>
            <a:r>
              <a:rPr lang="en-US" sz="1100" i="1" dirty="0">
                <a:solidFill>
                  <a:srgbClr val="FFD93D"/>
                </a:solidFill>
              </a:rPr>
              <a:t>Partial</a:t>
            </a:r>
            <a:r>
              <a:rPr lang="en-US" sz="1100" dirty="0">
                <a:solidFill>
                  <a:srgbClr val="E8EDF5"/>
                </a:solidFill>
              </a:rPr>
              <a:t> = Partially Addresses     </a:t>
            </a:r>
            <a:r>
              <a:rPr lang="en-US" sz="1400" dirty="0">
                <a:solidFill>
                  <a:srgbClr val="8892B0"/>
                </a:solidFill>
              </a:rPr>
              <a:t>—</a:t>
            </a:r>
            <a:r>
              <a:rPr lang="en-US" sz="1100" dirty="0">
                <a:solidFill>
                  <a:srgbClr val="E8EDF5"/>
                </a:solidFill>
              </a:rPr>
              <a:t> = Not Addressed     </a:t>
            </a:r>
            <a:r>
              <a:rPr lang="en-US" sz="1100" b="1" dirty="0">
                <a:solidFill>
                  <a:srgbClr val="4ECDC4"/>
                </a:solidFill>
              </a:rPr>
              <a:t>Highlighted</a:t>
            </a:r>
            <a:r>
              <a:rPr lang="en-US" sz="1100" dirty="0">
                <a:solidFill>
                  <a:srgbClr val="E8EDF5"/>
                </a:solidFill>
              </a:rPr>
              <a:t> = Our Implementation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Three Ingredients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cryptographic primitives working in concert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51760" cy="3017520"/>
          </a:xfrm>
          <a:prstGeom prst="rect">
            <a:avLst/>
          </a:prstGeom>
          <a:solidFill>
            <a:srgbClr val="2A3A7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2651760" cy="73152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6002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Adaptor Signatures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28346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signature locked with a secret key — becomes valid only when combined with a witness.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46120" y="1371600"/>
            <a:ext cx="2651760" cy="3017520"/>
          </a:xfrm>
          <a:prstGeom prst="rect">
            <a:avLst/>
          </a:prstGeom>
          <a:solidFill>
            <a:srgbClr val="2A3A7D"/>
          </a:solidFill>
          <a:ln/>
        </p:spPr>
      </p:sp>
      <p:sp>
        <p:nvSpPr>
          <p:cNvPr id="11" name="Shape 8"/>
          <p:cNvSpPr/>
          <p:nvPr/>
        </p:nvSpPr>
        <p:spPr>
          <a:xfrm>
            <a:off x="3246120" y="1371600"/>
            <a:ext cx="2651760" cy="73152"/>
          </a:xfrm>
          <a:prstGeom prst="rect">
            <a:avLst/>
          </a:prstGeom>
          <a:solidFill>
            <a:srgbClr val="FFD93D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60020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Witness Encryption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429000" y="28346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data so that decryption requires a specific signature — the oracle's attestation.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943600" y="1371600"/>
            <a:ext cx="2651760" cy="3017520"/>
          </a:xfrm>
          <a:prstGeom prst="rect">
            <a:avLst/>
          </a:prstGeom>
          <a:solidFill>
            <a:srgbClr val="2A3A7D"/>
          </a:solidFill>
          <a:ln/>
        </p:spPr>
      </p:sp>
      <p:sp>
        <p:nvSpPr>
          <p:cNvPr id="16" name="Shape 12"/>
          <p:cNvSpPr/>
          <p:nvPr/>
        </p:nvSpPr>
        <p:spPr>
          <a:xfrm>
            <a:off x="5943600" y="1371600"/>
            <a:ext cx="2651760" cy="73152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60020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35040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Cut-and-Choose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126480" y="28346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proof that the ciphertext is well-formed — 128 rounds, 2⁻⁴⁰ soundness.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864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Verifiable Witness Encryption for a Relation (VWER)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Adaptor Signatures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signature locked with a secret key"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Intuition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creates a pre-signature σ̃ that is incomplete. It only becomes a valid signature σ when combined with witness y where Y = gʸ.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463040" cy="640080"/>
          </a:xfrm>
          <a:prstGeom prst="rect">
            <a:avLst/>
          </a:prstGeom>
          <a:solidFill>
            <a:srgbClr val="2A3A7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97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σ̃ (pre-sig)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0" y="269748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560320" y="2697480"/>
            <a:ext cx="1005840" cy="640080"/>
          </a:xfrm>
          <a:prstGeom prst="rect">
            <a:avLst/>
          </a:prstGeom>
          <a:solidFill>
            <a:srgbClr val="2A3A7D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26974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269748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114800" y="2697480"/>
            <a:ext cx="109728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0" y="2697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(valid)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94960" y="1097280"/>
            <a:ext cx="3291840" cy="3291840"/>
          </a:xfrm>
          <a:prstGeom prst="rect">
            <a:avLst/>
          </a:prstGeom>
          <a:solidFill>
            <a:srgbClr val="0D1421"/>
          </a:solidFill>
          <a:ln/>
        </p:spPr>
      </p:sp>
      <p:sp>
        <p:nvSpPr>
          <p:cNvPr id="16" name="Text 14"/>
          <p:cNvSpPr/>
          <p:nvPr/>
        </p:nvSpPr>
        <p:spPr>
          <a:xfrm>
            <a:off x="557784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Schnorr Construction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77840" y="1645920"/>
            <a:ext cx="29260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Pre-sign: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R' = gʳ · 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 = H(vk, R', m)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s' = r + c·sk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σ̃ = (R', s')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 = R' · g⁻ʸ = gʳ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 = s' - 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σ = (R, s)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 = s' - 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8046720" cy="502920"/>
          </a:xfrm>
          <a:prstGeom prst="rect">
            <a:avLst/>
          </a:prstGeom>
          <a:solidFill>
            <a:srgbClr val="2A3A7D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4805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Once Bob sees both σ̃ and σ, he can extract y = s' - 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Witness Encryption (WES)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"Encryption that needs a signature to open"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Big Idea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plaintext p under statement (vk, m). Decryption requires the BLS signature σ = H₀(m)ˢᵏ — which only the oracle Olivia can produce.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4389120" cy="1737360"/>
          </a:xfrm>
          <a:prstGeom prst="rect">
            <a:avLst/>
          </a:prstGeom>
          <a:solidFill>
            <a:srgbClr val="0D142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432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Pairing Magic (BDH)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e(σ̄, c₁) = e(H₀(m)ˢᵏ, g₁ʳ¹)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= e(H₀(m), g₁)ˢᵏ·ʳ¹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= e(H₀(m), vk)ʳ¹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20640" y="1097280"/>
            <a:ext cx="3566160" cy="3291840"/>
          </a:xfrm>
          <a:prstGeom prst="rect">
            <a:avLst/>
          </a:prstGeom>
          <a:solidFill>
            <a:srgbClr val="0D1421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WES_Enc / WES_Dec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0" y="164592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Encrypt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c₁ = g₁ʳ¹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c₂ = e(vk, H₀(m))ʳ¹ · r₂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c₃ = H₁(r₂) ⊕ p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Decrypt (with σ̄)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D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r₂ = c₂ · e(σ̄, c₁)⁻¹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 = c₃ ⊕ H₁(r₂)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8046720" cy="502920"/>
          </a:xfrm>
          <a:prstGeom prst="rect">
            <a:avLst/>
          </a:prstGeom>
          <a:solidFill>
            <a:srgbClr val="2A3A7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4805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Without σ̄, recovering r₂ requires solving BDH — computationally infeasible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Cut-and-Choose Proof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"Prove the ciphertext is correct — without revealing the witness"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needs to verify Alice encrypted the correct y satisfying Y = gʸ, but y must stay secret and Olivia hasn't signed yet.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8046720" cy="2194560"/>
          </a:xfrm>
          <a:prstGeom prst="rect">
            <a:avLst/>
          </a:prstGeom>
          <a:solidFill>
            <a:srgbClr val="0D1421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286000"/>
            <a:ext cx="457200" cy="5486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86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2860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generates 128 random rᵢ, commits Rᵢ = gʳⁱ, encrypts c'ᵢ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971800"/>
            <a:ext cx="457200" cy="54864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9718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9718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Fiat-Shamir: challenge bits (b₁,...,b₁₂₈) ← H₂({c'ᵢ}, {Rᵢ})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457200" cy="5486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6576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3657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(bᵢ=1): reveal rᵢ  |  Unopened (bᵢ=0): reveal sᵢ = rᵢ + y, cᵢ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5029200" cy="548640"/>
          </a:xfrm>
          <a:prstGeom prst="rect">
            <a:avLst/>
          </a:prstGeom>
          <a:solidFill>
            <a:srgbClr val="2A3A7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434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verifies:  gˢⁱ = Rᵢ · Y  (holds iff sᵢ = rᵢ + y)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60720" y="4434840"/>
            <a:ext cx="283464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0" y="44348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Soundness: 2⁻⁴⁰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33767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 we have the building blocks.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77907" y="2377440"/>
            <a:ext cx="1828800" cy="7315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5" name="Text 3"/>
          <p:cNvSpPr/>
          <p:nvPr/>
        </p:nvSpPr>
        <p:spPr>
          <a:xfrm>
            <a:off x="1177907" y="23774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Adaptor Sig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98147" y="23774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46787" y="2377440"/>
            <a:ext cx="1828800" cy="73152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8" name="Text 6"/>
          <p:cNvSpPr/>
          <p:nvPr/>
        </p:nvSpPr>
        <p:spPr>
          <a:xfrm>
            <a:off x="3646787" y="23774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67027" y="23774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115667" y="2377440"/>
            <a:ext cx="1828800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115667" y="23774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Cut-Choose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3146349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2286000" y="3749040"/>
            <a:ext cx="4572000" cy="82296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37490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VWER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VWER: The Complete Picture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 transform the trust problem into a cryptographic guarantee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920240" cy="2926080"/>
          </a:xfrm>
          <a:prstGeom prst="rect">
            <a:avLst/>
          </a:prstGeom>
          <a:solidFill>
            <a:srgbClr val="2A3A7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1920240" cy="7315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locks funds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Olivia publishes vk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2-of-2 multisig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1371600"/>
            <a:ext cx="1920240" cy="2926080"/>
          </a:xfrm>
          <a:prstGeom prst="rect">
            <a:avLst/>
          </a:prstGeom>
          <a:solidFill>
            <a:srgbClr val="2A3A7D"/>
          </a:solidFill>
          <a:ln/>
        </p:spPr>
      </p:sp>
      <p:sp>
        <p:nvSpPr>
          <p:cNvPr id="12" name="Shape 10"/>
          <p:cNvSpPr/>
          <p:nvPr/>
        </p:nvSpPr>
        <p:spPr>
          <a:xfrm>
            <a:off x="2606040" y="1371600"/>
            <a:ext cx="1920240" cy="73152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0604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97480" y="246888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creates σ̃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 y via VWER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(c, πc) to Bob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1920240" cy="2926080"/>
          </a:xfrm>
          <a:prstGeom prst="rect">
            <a:avLst/>
          </a:prstGeom>
          <a:solidFill>
            <a:srgbClr val="2A3A7D"/>
          </a:solidFill>
          <a:ln/>
        </p:spPr>
      </p:sp>
      <p:sp>
        <p:nvSpPr>
          <p:cNvPr id="18" name="Shape 16"/>
          <p:cNvSpPr/>
          <p:nvPr/>
        </p:nvSpPr>
        <p:spPr>
          <a:xfrm>
            <a:off x="4663440" y="1371600"/>
            <a:ext cx="192024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66344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54880" y="246888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runs VfEncR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gˢⁱ = Rᵢ·Y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if valid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20840" y="1371600"/>
            <a:ext cx="1920240" cy="2926080"/>
          </a:xfrm>
          <a:prstGeom prst="rect">
            <a:avLst/>
          </a:prstGeom>
          <a:solidFill>
            <a:srgbClr val="2A3A7D"/>
          </a:solidFill>
          <a:ln/>
        </p:spPr>
      </p:sp>
      <p:sp>
        <p:nvSpPr>
          <p:cNvPr id="24" name="Shape 22"/>
          <p:cNvSpPr/>
          <p:nvPr/>
        </p:nvSpPr>
        <p:spPr>
          <a:xfrm>
            <a:off x="6720840" y="1371600"/>
            <a:ext cx="192024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72084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Resolve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12280" y="246888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Olivia signs σ̄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decrypts 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 payment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480560"/>
            <a:ext cx="8046720" cy="5029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4805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party can cheat — Alice commits before the event, Bob verifies before accepting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97829" y="2468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455229" y="2468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512629" y="2468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Phases 1-2: Alice's Commitment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640080"/>
          </a:xfrm>
          <a:prstGeom prst="rect">
            <a:avLst/>
          </a:prstGeom>
          <a:solidFill>
            <a:srgbClr val="2A3A7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8686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bets </a:t>
            </a:r>
            <a:r>
              <a:rPr lang="en-US" sz="16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BTC</a:t>
            </a:r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</a:t>
            </a: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Juventus win Champions League</a:t>
            </a:r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Oracle: Olivia.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1: Setup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3931920" cy="1280160"/>
          </a:xfrm>
          <a:prstGeom prst="rect">
            <a:avLst/>
          </a:prstGeom>
          <a:solidFill>
            <a:srgbClr val="0D142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945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Alice + Bob create 2-of-2 multisig address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Alice locks 1 BTC with timelock refund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Olivia publishes BLS key pair (vk̄, sk̄)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2: Commitment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63440" y="2057400"/>
            <a:ext cx="3931920" cy="1280160"/>
          </a:xfrm>
          <a:prstGeom prst="rect">
            <a:avLst/>
          </a:prstGeom>
          <a:solidFill>
            <a:srgbClr val="0D1421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1945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Sample witness y, compute Y = gʸ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pre-signature σ̃ on tx 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(c, πc) ← VWER.EncR((vk̄, m̄), y)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8046720" cy="1417320"/>
          </a:xfrm>
          <a:prstGeom prst="rect">
            <a:avLst/>
          </a:prstGeom>
          <a:solidFill>
            <a:srgbClr val="0D142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VWER_EncR( 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range(128):                 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r_i = random()                   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R_i = g ** r_i                   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c_prime_i = WES_Enc(vk_star, r_i)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cut-and-choose with Fiat-Shamir  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sends to Bob: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(m, σ̃, Y, c, πc)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669280" y="4480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ciphertexts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cut-and-choose proof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3: Bob's Verification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check: does Alice know the correct witness?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029200" cy="3108960"/>
          </a:xfrm>
          <a:prstGeom prst="rect">
            <a:avLst/>
          </a:prstGeom>
          <a:solidFill>
            <a:srgbClr val="0D142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VWER.VfEncR( 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365760" cy="36576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37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challenge bits from commitments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240280"/>
            <a:ext cx="365760" cy="36576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240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opened rounds: verify c'ᵢ and Rᵢ = gʳⁱ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2743200"/>
            <a:ext cx="36576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743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unopened rounds: THE KEY CHECK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246120"/>
            <a:ext cx="4663440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461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gˢⁱ  =  Rᵢ · Y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31520" y="3749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iff sᵢ = rᵢ + y where Y = gʸ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6072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Bob knows: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60720" y="1600200"/>
            <a:ext cx="2926080" cy="1920240"/>
          </a:xfrm>
          <a:prstGeom prst="rect">
            <a:avLst/>
          </a:prstGeom>
          <a:solidFill>
            <a:srgbClr val="2A3A7D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737360"/>
            <a:ext cx="274320" cy="2743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309360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gʸ (public statement)</a:t>
            </a:r>
            <a:endParaRPr lang="en-US" sz="12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148840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30936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sᵢ = rᵢ + y (masked)</a:t>
            </a:r>
            <a:endParaRPr lang="en-US" sz="12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560320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09360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Rᵢ = gʳⁱ (commitment)</a:t>
            </a:r>
            <a:endParaRPr lang="en-US" sz="12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97180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30936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itself (secret!)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760720" y="3657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Bob concludes: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5760720" y="4023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Olivia signs, I will recover the correct y."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2A3A7D"/>
          </a:solidFill>
          <a:ln/>
        </p:spPr>
      </p:sp>
      <p:sp>
        <p:nvSpPr>
          <p:cNvPr id="32" name="Text 26"/>
          <p:cNvSpPr/>
          <p:nvPr/>
        </p:nvSpPr>
        <p:spPr>
          <a:xfrm>
            <a:off x="822960" y="4572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accepts the commitment. Now we wait for the Champions League’s final...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4">
            <a:extLst>
              <a:ext uri="{FF2B5EF4-FFF2-40B4-BE49-F238E27FC236}">
                <a16:creationId xmlns:a16="http://schemas.microsoft.com/office/drawing/2014/main" id="{CA0B2B7A-68BC-E8F2-DF69-9BC2BE4F6BA8}"/>
              </a:ext>
            </a:extLst>
          </p:cNvPr>
          <p:cNvSpPr/>
          <p:nvPr/>
        </p:nvSpPr>
        <p:spPr>
          <a:xfrm>
            <a:off x="6172200" y="1554480"/>
            <a:ext cx="2377440" cy="2377440"/>
          </a:xfrm>
          <a:prstGeom prst="rect">
            <a:avLst/>
          </a:prstGeom>
          <a:solidFill>
            <a:srgbClr val="2A3A7D"/>
          </a:solidFill>
          <a:ln/>
        </p:spPr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D1431CC6-CFB0-E5B1-3BA5-94BDAD47AC70}"/>
              </a:ext>
            </a:extLst>
          </p:cNvPr>
          <p:cNvSpPr/>
          <p:nvPr/>
        </p:nvSpPr>
        <p:spPr>
          <a:xfrm>
            <a:off x="3372394" y="1554480"/>
            <a:ext cx="2377440" cy="2377440"/>
          </a:xfrm>
          <a:prstGeom prst="rect">
            <a:avLst/>
          </a:prstGeom>
          <a:solidFill>
            <a:srgbClr val="2A3A7D"/>
          </a:solidFill>
          <a:ln/>
        </p:spPr>
      </p:sp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4: Resolution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800100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Juventus WIN the Champions League!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377440" cy="2377440"/>
          </a:xfrm>
          <a:prstGeom prst="rect">
            <a:avLst/>
          </a:prstGeom>
          <a:solidFill>
            <a:srgbClr val="2A3A7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645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Olivia Attests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9214" y="2103120"/>
            <a:ext cx="190826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σ̄ ← Sign(sk̄, m̄)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BLS signature on “Juventus win" to bulletin board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15194" y="2468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85456" y="1559923"/>
            <a:ext cx="457200" cy="457200"/>
          </a:xfrm>
          <a:prstGeom prst="rect">
            <a:avLst/>
          </a:prstGeom>
          <a:solidFill>
            <a:srgbClr val="FFD93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55868" y="1651363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Bob Decrypts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03320" y="2108563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← VWER.DecR(σ̄, c, πc)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magic reveals the witness from unopened ciphertexts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36772" y="247214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174377" y="1559923"/>
            <a:ext cx="45720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23017" y="1651363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24898" y="2108563"/>
            <a:ext cx="1887581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← Adapt(σ̃, y)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completes transaction, claims 1 BTC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8001000" cy="868680"/>
          </a:xfrm>
          <a:prstGeom prst="rect">
            <a:avLst/>
          </a:prstGeom>
          <a:solidFill>
            <a:srgbClr val="0D142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Magic of Extraction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526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recovers y = sᵢ - rᵢ (from decrypted ciphertext). Then: σ = (R' · g⁻ʸ, s' - y) is a valid Schnorr signature.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Best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py_ecc over BN128 curve (128-bit security)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651760" cy="1645920"/>
          </a:xfrm>
          <a:prstGeom prst="rect">
            <a:avLst/>
          </a:prstGeom>
          <a:solidFill>
            <a:srgbClr val="0D142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VWER.EncR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51760" cy="1645920"/>
          </a:xfrm>
          <a:prstGeom prst="rect">
            <a:avLst/>
          </a:prstGeom>
          <a:solidFill>
            <a:srgbClr val="0D1421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371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12s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246120" y="2194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46120" y="2514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VWER.VfEncR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1234440"/>
            <a:ext cx="2651760" cy="1645920"/>
          </a:xfrm>
          <a:prstGeom prst="rect">
            <a:avLst/>
          </a:prstGeom>
          <a:solidFill>
            <a:srgbClr val="0D1421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1371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5-7s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5943600" y="2194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0" y="2514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VWER.DecR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Tests Passing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3931920" cy="1417320"/>
          </a:xfrm>
          <a:prstGeom prst="rect">
            <a:avLst/>
          </a:prstGeom>
          <a:solidFill>
            <a:srgbClr val="0D1421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11880"/>
            <a:ext cx="228600" cy="2286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05156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diagnostics: bilinearity verified</a:t>
            </a:r>
            <a:endParaRPr lang="en-US" sz="12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31920"/>
            <a:ext cx="228600" cy="2286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05156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 encrypt/decrypt cycles</a:t>
            </a:r>
            <a:endParaRPr lang="en-US" sz="12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51960"/>
            <a:ext cx="228600" cy="2286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51560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VWER protocol flow</a:t>
            </a:r>
            <a:endParaRPr lang="en-US" sz="12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72000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5156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 recovery: exact match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66344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Configuration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4663440" y="3474720"/>
            <a:ext cx="3931920" cy="1417320"/>
          </a:xfrm>
          <a:prstGeom prst="rect">
            <a:avLst/>
          </a:prstGeom>
          <a:solidFill>
            <a:srgbClr val="0D1421"/>
          </a:solidFill>
          <a:ln/>
        </p:spPr>
      </p:sp>
      <p:sp>
        <p:nvSpPr>
          <p:cNvPr id="29" name="Text 23"/>
          <p:cNvSpPr/>
          <p:nvPr/>
        </p:nvSpPr>
        <p:spPr>
          <a:xfrm>
            <a:off x="4846320" y="3579222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128 rounds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~64 opened, ~64 unopened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pairing operations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~50ms each → 13s total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bottleneck: pairings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Breakdown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Encryption Time (18 seconds)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797296" cy="7315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5797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Pairings: 13s (72%)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45936" y="1371600"/>
            <a:ext cx="1371600" cy="73152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8" name="Text 6"/>
          <p:cNvSpPr/>
          <p:nvPr/>
        </p:nvSpPr>
        <p:spPr>
          <a:xfrm>
            <a:off x="6345936" y="13716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17536" y="1371600"/>
            <a:ext cx="566928" cy="7315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0" name="Shape 8"/>
          <p:cNvSpPr/>
          <p:nvPr/>
        </p:nvSpPr>
        <p:spPr>
          <a:xfrm>
            <a:off x="8284464" y="1371600"/>
            <a:ext cx="310896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Optimization Strategies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3931920" cy="1005840"/>
          </a:xfrm>
          <a:prstGeom prst="rect">
            <a:avLst/>
          </a:prstGeom>
          <a:solidFill>
            <a:srgbClr val="0D1421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71800"/>
            <a:ext cx="320040" cy="3200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43000" y="2926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Pairing Cache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31520" y="3337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e(H₀(m̄), vk̄) is identical across all 128 rounds. Compute once, reuse. Saves ~6.3 seconds.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63440" y="2834640"/>
            <a:ext cx="3931920" cy="1005840"/>
          </a:xfrm>
          <a:prstGeom prst="rect">
            <a:avLst/>
          </a:prstGeom>
          <a:solidFill>
            <a:srgbClr val="0D1421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97180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57800" y="2926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Precompute Randomness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846320" y="3337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{rᵢ} and {Rᵢ = gʳⁱ} offline. Removes 128 exponentiations from online phase.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48640" y="4023360"/>
            <a:ext cx="8046720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7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optimizations: 50%+ speedup → under 10 seconds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Comfortably within interactive latency for practical deployment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Google Collab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py_ecc over BN128 curve (128-bit security) • γ = 128 rounds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554480"/>
          </a:xfrm>
          <a:prstGeom prst="rect">
            <a:avLst/>
          </a:prstGeom>
          <a:solidFill>
            <a:srgbClr val="0D142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7.9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VWER.EncR (473.8s)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51760" cy="1554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1430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24612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46120" y="2148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46120" y="237744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VWER.VfEncR ⚡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051560"/>
            <a:ext cx="2651760" cy="1554480"/>
          </a:xfrm>
          <a:prstGeom prst="rect">
            <a:avLst/>
          </a:prstGeom>
          <a:solidFill>
            <a:srgbClr val="0D1421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1430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3.2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03504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035040" y="2148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35040" y="237744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VWER.DecR (192.4s)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Verification is instant (16ms) — Bob can validate Alice's commitment in real-time!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Tests Passing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3931920" cy="1188720"/>
          </a:xfrm>
          <a:prstGeom prst="rect">
            <a:avLst/>
          </a:prstGeom>
          <a:solidFill>
            <a:srgbClr val="0D1421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862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diagnostics: bilinearity verified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 encrypt/decrypt cycles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VWER protocol flow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Witness recovery: exact match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0" y="3794760"/>
            <a:ext cx="4114800" cy="1188720"/>
          </a:xfrm>
          <a:prstGeom prst="rect">
            <a:avLst/>
          </a:prstGeom>
          <a:solidFill>
            <a:srgbClr val="0D1421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38862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128 rounds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opened, 59 unopened (this run)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× WES.Enc in EncR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~59 × WES.Dec in DecR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bottleneck: pairing operations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Collab Detailed Timing Breakdown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execution times from actual Python implementation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57200" y="960120"/>
          <a:ext cx="8229600" cy="25603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BLS Key Generation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generates (vk, sk) pair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WES.Enc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Primitive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D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3.62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pairing + GT exponentiation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WES.Dec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Primitive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D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3.13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pairing + inverse + XOR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BLS Signature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Attestation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7.23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Hash-to-curve + scalar mult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VWER.EncR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473.8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× WES.Enc + commitments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VWER.VfEncR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scalar mults (no pairings!)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D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VWER.DecR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D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D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192.4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D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~59 × WES.Dec (unopened only)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749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Verification is So Fast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4114800"/>
            <a:ext cx="3931920" cy="868680"/>
          </a:xfrm>
          <a:prstGeom prst="rect">
            <a:avLst/>
          </a:prstGeom>
          <a:solidFill>
            <a:srgbClr val="0D1421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41605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VfEncR checks: g^sᵢ = Rᵢ · Y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scalar multiplications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pairing operations!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128 checks in 16ms total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0" y="3749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Enc/Dec Are Slow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0" y="4114800"/>
            <a:ext cx="4114800" cy="868680"/>
          </a:xfrm>
          <a:prstGeom prst="rect">
            <a:avLst/>
          </a:prstGeom>
          <a:solidFill>
            <a:srgbClr val="0D1421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0" y="41605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 uses pairing: e(σ̄, c₁)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pairing ≈ 3-4 seconds (py_ecc)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EncR: 128 pairings → 7.9 min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DecR: ~59 pairings → 3.2 min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Implications &amp; Optimizations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931920" cy="1920240"/>
          </a:xfrm>
          <a:prstGeom prst="rect">
            <a:avLst/>
          </a:prstGeom>
          <a:solidFill>
            <a:srgbClr val="0D142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393192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What Works Well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Bob's verification is instant (16ms)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Real-time commitment validation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prepares offline (7.9 min)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Done before protocol starts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decrypts after event (3.2 min)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Acceptable for non-interactive resolution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777240"/>
            <a:ext cx="4114800" cy="1920240"/>
          </a:xfrm>
          <a:prstGeom prst="rect">
            <a:avLst/>
          </a:prstGeom>
          <a:solidFill>
            <a:srgbClr val="0D142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777240"/>
            <a:ext cx="4114800" cy="64008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Optimization Potential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2801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Rust/C++ implementation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10-100× faster pairings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caching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e(H₀(m̄), vk̄) reused 128×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WES operations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128 independent encryptions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Projected Performance (Optimized)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457200" y="3200400"/>
          <a:ext cx="8229600" cy="138988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(Python)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Rust + Caching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Rust + Parallel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VWER.EncR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D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 sec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sec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VWER.VfEncR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VWER.DecR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D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 sec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 sec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Verification is always fast — the interactive part of the protocol is instant!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Guarantees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game-based definitions under standard assumptions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2286000"/>
          </a:xfrm>
          <a:prstGeom prst="rect">
            <a:avLst/>
          </a:prstGeom>
          <a:solidFill>
            <a:srgbClr val="0D142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3931920" cy="7315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Theorem 1: One-Wayness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BDH holds, WES is IND-CPA secure, and adaptor signatures are unforgeable, then VWER achieves one-wayness.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8892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2788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cannot forge signatures without oracle attestation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188720"/>
            <a:ext cx="3931920" cy="2286000"/>
          </a:xfrm>
          <a:prstGeom prst="rect">
            <a:avLst/>
          </a:prstGeom>
          <a:solidFill>
            <a:srgbClr val="0D1421"/>
          </a:solidFill>
          <a:ln/>
        </p:spPr>
      </p:sp>
      <p:sp>
        <p:nvSpPr>
          <p:cNvPr id="12" name="Shape 9"/>
          <p:cNvSpPr/>
          <p:nvPr/>
        </p:nvSpPr>
        <p:spPr>
          <a:xfrm>
            <a:off x="4663440" y="1188720"/>
            <a:ext cx="3931920" cy="73152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3" name="Text 10"/>
          <p:cNvSpPr/>
          <p:nvPr/>
        </p:nvSpPr>
        <p:spPr>
          <a:xfrm>
            <a:off x="484632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Theorem 2: Verifiability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846320" y="18288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NIZK is simulation-sound and Lindell-Riva batching holds, then VWER achieves verifiability with soundness error 2⁻⁴⁰.</a:t>
            </a:r>
            <a:endParaRPr lang="en-US" sz="13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78892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57800" y="2788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cannot create malformed ciphertexts that pass verification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4864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Assumptions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48640" y="4069080"/>
            <a:ext cx="8046720" cy="914400"/>
          </a:xfrm>
          <a:prstGeom prst="rect">
            <a:avLst/>
          </a:prstGeom>
          <a:solidFill>
            <a:srgbClr val="2A3A7D"/>
          </a:solidFill>
          <a:ln/>
        </p:spPr>
      </p:sp>
      <p:sp>
        <p:nvSpPr>
          <p:cNvPr id="19" name="Text 15"/>
          <p:cNvSpPr/>
          <p:nvPr/>
        </p:nvSpPr>
        <p:spPr>
          <a:xfrm>
            <a:off x="731520" y="4160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BDH: </a:t>
            </a: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Distinguishing e(g₁,g₂)^abc from random given (g₁^a, g₂^b, g₂^c) is hard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31520" y="4526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Lindell-Riva: </a:t>
            </a: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γ=128 rounds, ≥1 honest ciphertext per bucket with overwhelming probability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Applications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Wherever real-world events must trigger digital payments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1554480"/>
          </a:xfrm>
          <a:prstGeom prst="rect">
            <a:avLst/>
          </a:prstGeom>
          <a:solidFill>
            <a:srgbClr val="2A3A7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71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 Markets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19202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bets on elections, sports, financial events — no public smart contract reveals your positions.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188720"/>
            <a:ext cx="3931920" cy="1554480"/>
          </a:xfrm>
          <a:prstGeom prst="rect">
            <a:avLst/>
          </a:prstGeom>
          <a:solidFill>
            <a:srgbClr val="2A3A7D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3716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Milestone Payments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892040" y="19202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paid when deliverable approved. Oracle attests completion; payment releases automatically.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2880360"/>
            <a:ext cx="3931920" cy="1554480"/>
          </a:xfrm>
          <a:prstGeom prst="rect">
            <a:avLst/>
          </a:prstGeom>
          <a:solidFill>
            <a:srgbClr val="2A3A7D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0632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Insurance Processing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77724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insurance: flight delay oracle triggers automatic payout. No claims adjuster needed.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663440" y="2880360"/>
            <a:ext cx="3931920" cy="1554480"/>
          </a:xfrm>
          <a:prstGeom prst="rect">
            <a:avLst/>
          </a:prstGeom>
          <a:solidFill>
            <a:srgbClr val="2A3A7D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06324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8640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 Chain Finance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489204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 attest shipment arrival. Payment released on delivery confirmation — trustless trade finance.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22" name="Text 16"/>
          <p:cNvSpPr/>
          <p:nvPr/>
        </p:nvSpPr>
        <p:spPr>
          <a:xfrm>
            <a:off x="822960" y="4572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Oracle independence — no coordination required before the event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Blocks from Literature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contributions implemented and applied in our project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57200" y="868680"/>
          <a:ext cx="8229600" cy="4005072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Contribution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 Parts Implemented / Applied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[1] Madathil et 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(NDSS 2023)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VWER Construction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 WES Scheme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EncR, VfEncR, DecR algorithms  • WES based on BLS signatures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Cut-and-choose proof system  • One-wayness &amp; verifiability proofs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[2] MixBuy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(PETS 2025)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O-UCP Protocol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Attestation puzzle protocol flow  • Four security properties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Puzzle-Promise/Link/Solve phases  • Adaptor signature integration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 VWER_BLS_sig.py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(Our Implementation)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VWER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VWER.EncR(), VfEncR(), DecR()  • 128-round cut-and-choose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BLS key generation &amp; signing  • End-to-end protocol test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[4] WES.py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(Our Implementation)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WES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Primitive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WES.Enc() and WES.Dec()  • Pairing diagnostics &amp; validation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Hash-to-curve implementation  • BLS signature verification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[5] Lindell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(J. Crypto 2016)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Cut-and-Choose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Batching analysis for γ = 128  • Soundness error &lt; 2⁻⁴⁰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Lindell-Riva bucket guarantee  • Security parameter selection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[6] Aumayr et 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(ASIACRYPT 2021)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Schnorr adaptor: pSign, pVf, Adapt, Ext  • Pre-signature construction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Witness extraction mechanism  • DL relation R = {(Y,y) : Y = gʸ}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[7] Bursuc &amp; Mauw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(CSF 2022)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Two-Party Signing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Contingent payment formalization  • Abelian group verification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Security model for fair exchange  • Protocol composition framework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[8] Garg et 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(STOC 2013)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Witness Encryption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WE definition &amp; security model  • NP statement encryption concept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Theoretical foundations for WES  • Extractability requirements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rows</a:t>
            </a: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represent our original implementation contributions to this project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260931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→ Math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eliminated trust from the equation.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8046720" cy="2194560"/>
          </a:xfrm>
          <a:prstGeom prst="rect">
            <a:avLst/>
          </a:prstGeom>
          <a:solidFill>
            <a:srgbClr val="0D142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774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3774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RQ1: </a:t>
            </a: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payments without smart contracts — VWER keeps logic off-chain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88036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8803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RQ2: </a:t>
            </a: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encryption before events — cut-and-choose with 2⁻⁴⁰ soundness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8328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33832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RQ3: </a:t>
            </a: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replaces trust — one-wayness + verifiability = fair exchange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777240" y="39319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18s encryption  •  12s verification  •  </a:t>
            </a: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for real-world deployment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4" name="Text 9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892B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Q&amp;A Backup: Technical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128 rounds?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Lindell-Riva analysis: expected 64 unopened → ≥1 honest with prob 1-2⁻⁴⁰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oracle never publishes?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Timelock refund: Alice's funds return after deadline (typically 1 week)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DLCs (Discreet Log Contracts)?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DLCs need specific tx structure + oracle coordination. VWER is more general.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BN128 vs BLS12-381?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BN128: faster, 128-bit. BLS12-381: slower, ~192-bit, better long-term margin.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complexity?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O(γ) ciphertexts ≈ 128 × 3 group elements + proofs. ~50KB total.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892B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Q&amp;A Backup: Practical &amp; Research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1000+ outcomes?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VweTS-extension: garbled circuits → log₂(M) encryptions. 1024 outcomes → 10 VWERs.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footprint?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standard transaction — no special scripts. VWER is off-chain.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vs NDSS 2023?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implement + benchmark the attestation puzzle. Original paper was theoretical.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oracles?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Shamir secret sharing → ρ-of-N oracle attestation.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problem. Pairing-based WES relies on BDH. Lattice-based WE is active research.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2809</Words>
  <Application>Microsoft Office PowerPoint</Application>
  <PresentationFormat>On-screen Show (16:9)</PresentationFormat>
  <Paragraphs>522</Paragraphs>
  <Slides>25</Slides>
  <Notes>25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MixBuy: Unlinkable Contingent Payment via Verifiable Witness Encryption</dc:title>
  <dc:subject>PptxGenJS Presentation</dc:subject>
  <dc:creator>Maksym Voloshyn &amp; Zahra Tahna</dc:creator>
  <cp:lastModifiedBy>Maksym Voloshyn</cp:lastModifiedBy>
  <cp:revision>4</cp:revision>
  <dcterms:created xsi:type="dcterms:W3CDTF">2026-01-26T21:13:59Z</dcterms:created>
  <dcterms:modified xsi:type="dcterms:W3CDTF">2026-01-27T20:27:44Z</dcterms:modified>
</cp:coreProperties>
</file>